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Petrona Thin"/>
      <p:regular r:id="rId201323"/>
    </p:embeddedFont>
    <p:embeddedFont>
      <p:font typeface="Petrona ExtraLight"/>
      <p:regular r:id="rId201324"/>
    </p:embeddedFont>
    <p:embeddedFont>
      <p:font typeface="Petrona Light"/>
      <p:regular r:id="rId201325"/>
    </p:embeddedFont>
    <p:embeddedFont>
      <p:font typeface="Petrona"/>
      <p:regular r:id="rId201326"/>
    </p:embeddedFont>
    <p:embeddedFont>
      <p:font typeface="Petrona Medium"/>
      <p:regular r:id="rId201327"/>
    </p:embeddedFont>
    <p:embeddedFont>
      <p:font typeface="Petrona SemiBold"/>
      <p:regular r:id="rId201328"/>
    </p:embeddedFont>
    <p:embeddedFont>
      <p:font typeface="Petrona Bold"/>
      <p:regular r:id="rId201329"/>
    </p:embeddedFont>
    <p:embeddedFont>
      <p:font typeface="Petrona ExtraBold"/>
      <p:regular r:id="rId201330"/>
    </p:embeddedFont>
    <p:embeddedFont>
      <p:font typeface="Petrona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73436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Trends Data Analysis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3925119" y="291636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Python, SQL &amp; Power BI to uncover purchasing patterns and sales trends from retail transaction data.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9369"/>
            <a:ext cx="949077" cy="177850"/>
          </a:xfrm>
          <a:prstGeom prst="roundRect">
            <a:avLst>
              <a:gd name="adj" fmla="val 19669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58552" y="460549"/>
            <a:ext cx="128141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OVERVIEW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37729"/>
            <a:ext cx="3570089" cy="34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3,900 Customer Records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496119" y="1162794"/>
            <a:ext cx="4032945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row represents the latest purchase by one customer. The dataset spans demographics, product purchases, payment methods, subscriptions, discounts, shipping, and reviews.</a:t>
            </a:r>
            <a:endParaRPr lang="en-US" sz="8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 columns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capturing the full shopping journey.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7726" y="1179984"/>
            <a:ext cx="260226" cy="2602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87726" y="1535757"/>
            <a:ext cx="1366391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Demographics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87726" y="1782961"/>
            <a:ext cx="386484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location</a:t>
            </a:r>
            <a:endParaRPr lang="en-US" sz="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7726" y="2080245"/>
            <a:ext cx="260226" cy="2602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87726" y="2436019"/>
            <a:ext cx="1366391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787726" y="2683222"/>
            <a:ext cx="386484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Category, size, color, amount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7726" y="2980506"/>
            <a:ext cx="260226" cy="2602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87726" y="3336280"/>
            <a:ext cx="1366391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Payment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787726" y="3583484"/>
            <a:ext cx="386484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Method, discount, promo code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87726" y="3880768"/>
            <a:ext cx="260226" cy="2602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87726" y="4236541"/>
            <a:ext cx="1366391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Shipping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4787726" y="4483745"/>
            <a:ext cx="386484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Type, frequency, season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7509"/>
            <a:ext cx="1069181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69999"/>
            <a:ext cx="135627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50615"/>
            <a:ext cx="569036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Python Preprocessing Pipeline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428378"/>
            <a:ext cx="6339185" cy="29012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56361" y="3514580"/>
            <a:ext cx="1190142" cy="48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Standardize Columns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56456" y="3394216"/>
            <a:ext cx="1190143" cy="72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Treat Missing Values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64702" y="3514580"/>
            <a:ext cx="1190142" cy="48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Inspect Structure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40341" y="3634945"/>
            <a:ext cx="1190142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Load Dataset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96119" y="448910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review ratings imputed with category-specific medians — robust to outliers and preserving behavior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95003"/>
            <a:ext cx="1467594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137493"/>
            <a:ext cx="175468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18109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Engineered Features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95872"/>
            <a:ext cx="2622724" cy="19526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22351" y="220221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6927" y="266283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 Groups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6927" y="2980432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segmented into Young Adult, Adult, Middle-aged, and Senior using quartile-based binning.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095872"/>
            <a:ext cx="2622724" cy="19526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6833" y="220221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1410" y="266283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Purchase Frequency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421410" y="2980432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labels converted to numerical days — Weekly=7, Fortnightly=14, Monthly=30, Quarterly=90, Annually=365.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2095872"/>
            <a:ext cx="2622724" cy="19526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51316" y="220221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185892" y="2662833"/>
            <a:ext cx="189011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Redundancy Removed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185892" y="2980432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 code column dropped — identical to discount applied. Consistent types and clean naming throughout.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07132"/>
            <a:ext cx="980331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49622"/>
            <a:ext cx="126742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0238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Gender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67470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35547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2.1×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more revenue than female customers.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queries also identified high-spending customers who remain above average despite receiving discounts.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07132"/>
            <a:ext cx="980331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49622"/>
            <a:ext cx="126742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0238"/>
            <a:ext cx="4582344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635547"/>
            <a:ext cx="3902943" cy="103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classified by purchase history using SQL conditions. The vast majority are loyal repeat buyers.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products ranked within each category using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ROW_NUMBER()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window functions.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1667470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74638"/>
            <a:ext cx="1453158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17128"/>
            <a:ext cx="174024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97744"/>
            <a:ext cx="4257526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Dashboard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746349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3.9K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1559421" y="239129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Customers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660553" y="1746349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$59.76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5723855" y="239129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Avg Purchase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6119" y="2978200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3.75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1559421" y="362314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Avg Rating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60553" y="2978200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27%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5723855" y="362314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Subscribed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6119" y="401516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slicers for subscription, gender, category, and shipping type enable dynamic exploration of customer segments.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07132"/>
            <a:ext cx="1453158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49622"/>
            <a:ext cx="174024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0238"/>
            <a:ext cx="5038130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Category &amp; Age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67470"/>
            <a:ext cx="3902943" cy="280935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701" y="1667470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59966"/>
            <a:ext cx="956816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02456"/>
            <a:ext cx="124390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83072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Six Business Insights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6119" y="1560835"/>
            <a:ext cx="4004965" cy="837456"/>
          </a:xfrm>
          <a:prstGeom prst="roundRect">
            <a:avLst>
              <a:gd name="adj" fmla="val 711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2640" y="170735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Express Shipping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2640" y="2024955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avg purchase amount vs standard shipping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560835"/>
            <a:ext cx="4005039" cy="837456"/>
          </a:xfrm>
          <a:prstGeom prst="roundRect">
            <a:avLst>
              <a:gd name="adj" fmla="val 711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9363" y="170735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Young Adults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89363" y="2024955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revenue across all age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2540050"/>
            <a:ext cx="4004965" cy="837456"/>
          </a:xfrm>
          <a:prstGeom prst="roundRect">
            <a:avLst>
              <a:gd name="adj" fmla="val 711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640" y="268657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 Not Subscribed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2640" y="3004170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subscription campaigns needed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2540050"/>
            <a:ext cx="4005039" cy="837456"/>
          </a:xfrm>
          <a:prstGeom prst="roundRect">
            <a:avLst>
              <a:gd name="adj" fmla="val 711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9363" y="268657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Categories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789363" y="3004170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 &amp; Accessories outperform — focus marketing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519264"/>
            <a:ext cx="4004965" cy="1064270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640" y="366578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2640" y="3983385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frequency, not always revenue — optimize carefully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519264"/>
            <a:ext cx="4005039" cy="1064270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9363" y="366578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Ratings &amp; Spend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789363" y="3983385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ratings linked to higher purchase values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50453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End-to-End Analytics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132821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data to actionable insights — improving marketing, satisfaction, and profitability.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941314"/>
            <a:ext cx="708794" cy="850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46671" y="208307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Python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346671" y="2400672"/>
            <a:ext cx="3872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 &amp; feature engineering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791867"/>
            <a:ext cx="708794" cy="85055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46671" y="293362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346671" y="3251225"/>
            <a:ext cx="3872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analysis &amp; segmentation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642420"/>
            <a:ext cx="708794" cy="85055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46671" y="3784178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1346671" y="4101778"/>
            <a:ext cx="3872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 &amp; insights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2026-07-04T16:29:06Z</dcterms:created>
  <dcterms:modified xsi:type="dcterms:W3CDTF">2026-07-04T16:29:06Z</dcterms:modified>
</cp:coreProperties>
</file>